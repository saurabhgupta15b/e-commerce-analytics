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8" r:id="rId19"/>
    <p:sldId id="277" r:id="rId20"/>
    <p:sldId id="272" r:id="rId21"/>
    <p:sldId id="273" r:id="rId22"/>
    <p:sldId id="274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D97AFC-D682-41B2-87B7-72B4A0806354}" v="2" dt="2026-10-04T18:12:44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urav Gupta" userId="518650675de8444d" providerId="LiveId" clId="{0F4A7037-7856-4265-8873-F4A54C0A00F3}"/>
    <pc:docChg chg="undo redo custSel addSld delSld modSld">
      <pc:chgData name="Gaurav Gupta" userId="518650675de8444d" providerId="LiveId" clId="{0F4A7037-7856-4265-8873-F4A54C0A00F3}" dt="2026-10-04T18:30:45.748" v="726" actId="20577"/>
      <pc:docMkLst>
        <pc:docMk/>
      </pc:docMkLst>
      <pc:sldChg chg="addSp delSp modSp add mod">
        <pc:chgData name="Gaurav Gupta" userId="518650675de8444d" providerId="LiveId" clId="{0F4A7037-7856-4265-8873-F4A54C0A00F3}" dt="2026-10-04T18:30:32.134" v="722" actId="20577"/>
        <pc:sldMkLst>
          <pc:docMk/>
          <pc:sldMk cId="1940639042" sldId="276"/>
        </pc:sldMkLst>
        <pc:spChg chg="mod">
          <ac:chgData name="Gaurav Gupta" userId="518650675de8444d" providerId="LiveId" clId="{0F4A7037-7856-4265-8873-F4A54C0A00F3}" dt="2026-10-04T18:30:32.134" v="722" actId="20577"/>
          <ac:spMkLst>
            <pc:docMk/>
            <pc:sldMk cId="1940639042" sldId="276"/>
            <ac:spMk id="3" creationId="{01598F80-1119-8CA0-7792-46DCEB204DC9}"/>
          </ac:spMkLst>
        </pc:spChg>
        <pc:spChg chg="mod">
          <ac:chgData name="Gaurav Gupta" userId="518650675de8444d" providerId="LiveId" clId="{0F4A7037-7856-4265-8873-F4A54C0A00F3}" dt="2026-10-04T18:25:00.892" v="528" actId="20577"/>
          <ac:spMkLst>
            <pc:docMk/>
            <pc:sldMk cId="1940639042" sldId="276"/>
            <ac:spMk id="4" creationId="{5C3F991F-7682-F3BD-BEBD-E208E0F398B8}"/>
          </ac:spMkLst>
        </pc:spChg>
        <pc:spChg chg="add del mod">
          <ac:chgData name="Gaurav Gupta" userId="518650675de8444d" providerId="LiveId" clId="{0F4A7037-7856-4265-8873-F4A54C0A00F3}" dt="2026-10-04T18:06:00.761" v="181" actId="478"/>
          <ac:spMkLst>
            <pc:docMk/>
            <pc:sldMk cId="1940639042" sldId="276"/>
            <ac:spMk id="29" creationId="{445A94C6-684E-2C81-9464-BDC29982579D}"/>
          </ac:spMkLst>
        </pc:spChg>
        <pc:picChg chg="add">
          <ac:chgData name="Gaurav Gupta" userId="518650675de8444d" providerId="LiveId" clId="{0F4A7037-7856-4265-8873-F4A54C0A00F3}" dt="2026-10-04T18:29:54.695" v="683"/>
          <ac:picMkLst>
            <pc:docMk/>
            <pc:sldMk cId="1940639042" sldId="276"/>
            <ac:picMk id="5" creationId="{AFD2B1B2-23D0-7601-D623-4350888336B5}"/>
          </ac:picMkLst>
        </pc:picChg>
        <pc:picChg chg="add mod">
          <ac:chgData name="Gaurav Gupta" userId="518650675de8444d" providerId="LiveId" clId="{0F4A7037-7856-4265-8873-F4A54C0A00F3}" dt="2026-10-04T18:09:44.679" v="202" actId="208"/>
          <ac:picMkLst>
            <pc:docMk/>
            <pc:sldMk cId="1940639042" sldId="276"/>
            <ac:picMk id="23" creationId="{74A5875B-6D63-4E70-D17F-BF00B7C9CAAD}"/>
          </ac:picMkLst>
        </pc:picChg>
      </pc:sldChg>
      <pc:sldChg chg="addSp delSp modSp add mod">
        <pc:chgData name="Gaurav Gupta" userId="518650675de8444d" providerId="LiveId" clId="{0F4A7037-7856-4265-8873-F4A54C0A00F3}" dt="2026-10-04T18:30:45.748" v="726" actId="20577"/>
        <pc:sldMkLst>
          <pc:docMk/>
          <pc:sldMk cId="144226529" sldId="277"/>
        </pc:sldMkLst>
        <pc:spChg chg="mod">
          <ac:chgData name="Gaurav Gupta" userId="518650675de8444d" providerId="LiveId" clId="{0F4A7037-7856-4265-8873-F4A54C0A00F3}" dt="2026-10-04T18:30:45.748" v="726" actId="20577"/>
          <ac:spMkLst>
            <pc:docMk/>
            <pc:sldMk cId="144226529" sldId="277"/>
            <ac:spMk id="3" creationId="{1DCE3622-6E33-0A7F-1B37-487983880D71}"/>
          </ac:spMkLst>
        </pc:spChg>
        <pc:spChg chg="mod">
          <ac:chgData name="Gaurav Gupta" userId="518650675de8444d" providerId="LiveId" clId="{0F4A7037-7856-4265-8873-F4A54C0A00F3}" dt="2026-10-04T18:23:34.356" v="508" actId="20577"/>
          <ac:spMkLst>
            <pc:docMk/>
            <pc:sldMk cId="144226529" sldId="277"/>
            <ac:spMk id="4" creationId="{4A76DF59-E372-329F-82B2-0B7FAE0F7C98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5" creationId="{9B6EC464-B0ED-366C-5EF7-6354F4B9647B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7" creationId="{E605BF6C-BBFC-025D-1672-19B6DD75214B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9" creationId="{C05569B4-44B7-61EC-B091-D85596DD5BB1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0" creationId="{F57ABA9D-B654-4B97-42C4-DC41A8F3CFA3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1" creationId="{00B69C05-40BA-0494-BD3E-237CEC971003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2" creationId="{9061872D-42A4-17D9-48F8-DD7B1324689A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4" creationId="{05B52FFF-242E-AEFE-324F-1B5C1B52C627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5" creationId="{D77F10D0-A0AB-DC53-F23D-BEF76A87A5DE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6" creationId="{B693BEC9-53D9-DD9E-F6A3-A365B6D1C32B}"/>
          </ac:spMkLst>
        </pc:spChg>
        <pc:spChg chg="del">
          <ac:chgData name="Gaurav Gupta" userId="518650675de8444d" providerId="LiveId" clId="{0F4A7037-7856-4265-8873-F4A54C0A00F3}" dt="2026-10-04T18:08:16.819" v="192" actId="478"/>
          <ac:spMkLst>
            <pc:docMk/>
            <pc:sldMk cId="144226529" sldId="277"/>
            <ac:spMk id="17" creationId="{292DF179-31ED-547F-651D-4002DDE5E9DB}"/>
          </ac:spMkLst>
        </pc:spChg>
        <pc:picChg chg="add mod">
          <ac:chgData name="Gaurav Gupta" userId="518650675de8444d" providerId="LiveId" clId="{0F4A7037-7856-4265-8873-F4A54C0A00F3}" dt="2026-10-04T18:09:26.341" v="200" actId="208"/>
          <ac:picMkLst>
            <pc:docMk/>
            <pc:sldMk cId="144226529" sldId="277"/>
            <ac:picMk id="23" creationId="{4ADBC31A-DA67-374E-9F48-9700101A2B32}"/>
          </ac:picMkLst>
        </pc:picChg>
        <pc:picChg chg="add del">
          <ac:chgData name="Gaurav Gupta" userId="518650675de8444d" providerId="LiveId" clId="{0F4A7037-7856-4265-8873-F4A54C0A00F3}" dt="2026-10-04T18:23:42.944" v="509" actId="478"/>
          <ac:picMkLst>
            <pc:docMk/>
            <pc:sldMk cId="144226529" sldId="277"/>
            <ac:picMk id="24" creationId="{E5EAC112-F1C2-36ED-10E4-7A57BDB6E2BC}"/>
          </ac:picMkLst>
        </pc:picChg>
        <pc:picChg chg="add del">
          <ac:chgData name="Gaurav Gupta" userId="518650675de8444d" providerId="LiveId" clId="{0F4A7037-7856-4265-8873-F4A54C0A00F3}" dt="2026-10-04T18:28:21.780" v="627" actId="478"/>
          <ac:picMkLst>
            <pc:docMk/>
            <pc:sldMk cId="144226529" sldId="277"/>
            <ac:picMk id="25" creationId="{EB1E184A-6320-E879-063D-83EFFAFE21EF}"/>
          </ac:picMkLst>
        </pc:picChg>
      </pc:sldChg>
      <pc:sldChg chg="addSp delSp modSp add mod">
        <pc:chgData name="Gaurav Gupta" userId="518650675de8444d" providerId="LiveId" clId="{0F4A7037-7856-4265-8873-F4A54C0A00F3}" dt="2026-10-04T18:30:39.845" v="724" actId="20577"/>
        <pc:sldMkLst>
          <pc:docMk/>
          <pc:sldMk cId="4226219627" sldId="278"/>
        </pc:sldMkLst>
        <pc:spChg chg="add del mod">
          <ac:chgData name="Gaurav Gupta" userId="518650675de8444d" providerId="LiveId" clId="{0F4A7037-7856-4265-8873-F4A54C0A00F3}" dt="2026-10-04T18:30:39.845" v="724" actId="20577"/>
          <ac:spMkLst>
            <pc:docMk/>
            <pc:sldMk cId="4226219627" sldId="278"/>
            <ac:spMk id="3" creationId="{A2FC308B-60BC-4D5E-546B-8EC274B7E788}"/>
          </ac:spMkLst>
        </pc:spChg>
        <pc:spChg chg="add del mod">
          <ac:chgData name="Gaurav Gupta" userId="518650675de8444d" providerId="LiveId" clId="{0F4A7037-7856-4265-8873-F4A54C0A00F3}" dt="2026-10-04T18:21:48.060" v="398" actId="20577"/>
          <ac:spMkLst>
            <pc:docMk/>
            <pc:sldMk cId="4226219627" sldId="278"/>
            <ac:spMk id="4" creationId="{DDD0D224-E915-689E-8994-B5FAA95EDFE3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5" creationId="{AA5099B1-5C6E-851E-2402-A277088AB34A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6" creationId="{15413C88-9ADE-2D5B-5BF5-73EFEC49F24A}"/>
          </ac:spMkLst>
        </pc:spChg>
        <pc:spChg chg="del">
          <ac:chgData name="Gaurav Gupta" userId="518650675de8444d" providerId="LiveId" clId="{0F4A7037-7856-4265-8873-F4A54C0A00F3}" dt="2026-10-04T18:06:49.099" v="184" actId="478"/>
          <ac:spMkLst>
            <pc:docMk/>
            <pc:sldMk cId="4226219627" sldId="278"/>
            <ac:spMk id="7" creationId="{1220FBD4-C532-AB66-2579-20469D60AA6F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9" creationId="{69C59607-70B4-D1D6-7659-DCB4C875014A}"/>
          </ac:spMkLst>
        </pc:spChg>
        <pc:spChg chg="del">
          <ac:chgData name="Gaurav Gupta" userId="518650675de8444d" providerId="LiveId" clId="{0F4A7037-7856-4265-8873-F4A54C0A00F3}" dt="2026-10-04T18:06:49.099" v="184" actId="478"/>
          <ac:spMkLst>
            <pc:docMk/>
            <pc:sldMk cId="4226219627" sldId="278"/>
            <ac:spMk id="10" creationId="{3C45DFD2-20E4-0A8B-1A27-D4BF5F17EC0E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11" creationId="{406D32FB-6AEC-E072-A86B-FD7A83EA7AD0}"/>
          </ac:spMkLst>
        </pc:spChg>
        <pc:spChg chg="del">
          <ac:chgData name="Gaurav Gupta" userId="518650675de8444d" providerId="LiveId" clId="{0F4A7037-7856-4265-8873-F4A54C0A00F3}" dt="2026-10-04T18:06:49.099" v="184" actId="478"/>
          <ac:spMkLst>
            <pc:docMk/>
            <pc:sldMk cId="4226219627" sldId="278"/>
            <ac:spMk id="12" creationId="{1278BA0F-D017-5738-3A16-4592C4821AD3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14" creationId="{C8C1AD19-9639-2D02-BE75-902C5E8AF1A9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15" creationId="{8968E3DD-7923-6DDB-6D9C-4E0A7E65DECD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16" creationId="{2044EAB3-50C9-6A61-25C6-F69441EB1B0D}"/>
          </ac:spMkLst>
        </pc:spChg>
        <pc:spChg chg="del">
          <ac:chgData name="Gaurav Gupta" userId="518650675de8444d" providerId="LiveId" clId="{0F4A7037-7856-4265-8873-F4A54C0A00F3}" dt="2026-10-04T18:06:49.099" v="184" actId="478"/>
          <ac:spMkLst>
            <pc:docMk/>
            <pc:sldMk cId="4226219627" sldId="278"/>
            <ac:spMk id="17" creationId="{24090976-9979-47A0-70DA-D1FC85051887}"/>
          </ac:spMkLst>
        </pc:spChg>
        <pc:spChg chg="del">
          <ac:chgData name="Gaurav Gupta" userId="518650675de8444d" providerId="LiveId" clId="{0F4A7037-7856-4265-8873-F4A54C0A00F3}" dt="2026-10-04T18:06:40.218" v="183" actId="478"/>
          <ac:spMkLst>
            <pc:docMk/>
            <pc:sldMk cId="4226219627" sldId="278"/>
            <ac:spMk id="19" creationId="{4F72DFCE-D889-AA3A-AFAD-E2FDCE7448B1}"/>
          </ac:spMkLst>
        </pc:spChg>
        <pc:spChg chg="del">
          <ac:chgData name="Gaurav Gupta" userId="518650675de8444d" providerId="LiveId" clId="{0F4A7037-7856-4265-8873-F4A54C0A00F3}" dt="2026-10-04T18:06:53.776" v="185" actId="478"/>
          <ac:spMkLst>
            <pc:docMk/>
            <pc:sldMk cId="4226219627" sldId="278"/>
            <ac:spMk id="20" creationId="{3A5A6259-0D8F-5E70-B1E7-62B70FDE3081}"/>
          </ac:spMkLst>
        </pc:spChg>
        <pc:picChg chg="add mod">
          <ac:chgData name="Gaurav Gupta" userId="518650675de8444d" providerId="LiveId" clId="{0F4A7037-7856-4265-8873-F4A54C0A00F3}" dt="2026-10-04T18:20:58.065" v="357" actId="1076"/>
          <ac:picMkLst>
            <pc:docMk/>
            <pc:sldMk cId="4226219627" sldId="278"/>
            <ac:picMk id="22" creationId="{B96061D5-820F-8673-94C6-2EC2645E11D4}"/>
          </ac:picMkLst>
        </pc:picChg>
        <pc:picChg chg="add del mod">
          <ac:chgData name="Gaurav Gupta" userId="518650675de8444d" providerId="LiveId" clId="{0F4A7037-7856-4265-8873-F4A54C0A00F3}" dt="2026-10-04T18:18:12.833" v="317" actId="478"/>
          <ac:picMkLst>
            <pc:docMk/>
            <pc:sldMk cId="4226219627" sldId="278"/>
            <ac:picMk id="23" creationId="{237D7536-74B7-B1B5-829C-6D5F3F640199}"/>
          </ac:picMkLst>
        </pc:picChg>
        <pc:picChg chg="add del mod">
          <ac:chgData name="Gaurav Gupta" userId="518650675de8444d" providerId="LiveId" clId="{0F4A7037-7856-4265-8873-F4A54C0A00F3}" dt="2026-10-04T18:28:37.098" v="630" actId="478"/>
          <ac:picMkLst>
            <pc:docMk/>
            <pc:sldMk cId="4226219627" sldId="278"/>
            <ac:picMk id="24" creationId="{088AFC65-6FBE-6C5E-E0D4-3333E6417850}"/>
          </ac:picMkLst>
        </pc:picChg>
        <pc:picChg chg="add">
          <ac:chgData name="Gaurav Gupta" userId="518650675de8444d" providerId="LiveId" clId="{0F4A7037-7856-4265-8873-F4A54C0A00F3}" dt="2026-10-04T18:28:32.541" v="629"/>
          <ac:picMkLst>
            <pc:docMk/>
            <pc:sldMk cId="4226219627" sldId="278"/>
            <ac:picMk id="25" creationId="{D8D5C6B3-C532-7CF3-AE00-0DB82A8A509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400" b="1">
                <a:solidFill>
                  <a:srgbClr val="111F36"/>
                </a:solidFill>
              </a:defRPr>
            </a:pPr>
            <a:r>
              <a:t>E-COMMERCE</a:t>
            </a:r>
            <a:br/>
            <a:r>
              <a:t>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4320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215CA5"/>
                </a:solidFill>
              </a:defRPr>
            </a:pPr>
            <a:r>
              <a:rPr dirty="0"/>
              <a:t>Power BI Project | From Orders to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0">
                <a:solidFill>
                  <a:srgbClr val="657080"/>
                </a:solidFill>
              </a:defRPr>
            </a:pPr>
            <a:r>
              <a:rPr dirty="0"/>
              <a:t>Interactive storytelling • Sales • Customers • Products • Delivery • Satisfaction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14300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55279" y="1143000"/>
            <a:ext cx="64008" cy="105156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6448" y="130759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61848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113,000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246888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955279" y="2468880"/>
            <a:ext cx="64008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56448" y="263347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294436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107,239,297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24612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955279" y="3794760"/>
            <a:ext cx="64008" cy="105156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56448" y="395935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427024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113,000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692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11F36"/>
                </a:solidFill>
              </a:defRPr>
            </a:pPr>
            <a:r>
              <a:t>WHAT HAPPENED → WHY → WHAT NEXT?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CDDF66A-1438-A302-3F93-39E17AEDE1F4}"/>
              </a:ext>
            </a:extLst>
          </p:cNvPr>
          <p:cNvSpPr txBox="1"/>
          <p:nvPr/>
        </p:nvSpPr>
        <p:spPr>
          <a:xfrm>
            <a:off x="685800" y="3766148"/>
            <a:ext cx="303384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657080"/>
                </a:solidFill>
              </a:defRPr>
            </a:pPr>
            <a:r>
              <a:rPr lang="en-US" sz="1600" b="1" cap="all" dirty="0">
                <a:solidFill>
                  <a:schemeClr val="accent1"/>
                </a:solidFill>
              </a:rPr>
              <a:t>Presented by: SAURABH Gupta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28620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A concise view of the business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00584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01368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107,239,297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100584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01368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113,000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325880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80" y="1325880"/>
            <a:ext cx="64008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49047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01368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606039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2606039"/>
            <a:ext cx="64008" cy="1005840"/>
          </a:xfrm>
          <a:prstGeom prst="rect">
            <a:avLst/>
          </a:prstGeom>
          <a:solidFill>
            <a:srgbClr val="2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277063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AVG RATING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08152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2.73/5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606039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89120" y="2606039"/>
            <a:ext cx="64008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277063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AVG WAIT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08152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9.5 days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80" y="2606039"/>
            <a:ext cx="34290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80" y="2606039"/>
            <a:ext cx="64008" cy="100584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2770632"/>
            <a:ext cx="3108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LOW-RATING 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081527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47.2%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1605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Revenue is spread across multiple product categories.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Delivery type is a clear operational differentiator for waiting time.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Low ratings require a multi-factor customer-experience response.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Data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83658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Available Orders fields support sales, product, delivery and satisfaction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OrderDate, DeliveryDate, CustomerID, Location, Zone, DeliveryType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ProductCategory, SubCategory, Product, UnitPrice, OrderQuantity, SalePrice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Status, Reason and Rating for customer experience and returns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Available CSV is described as May–June 2020; prior-year comparisons require historical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64592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37E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949440" y="187451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</a:defRPr>
            </a:pPr>
            <a:r>
              <a:t>Customer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1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874519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</a:defRPr>
            </a:pPr>
            <a:r>
              <a:t>Orders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320040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9440" y="34290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</a:defRPr>
            </a:pPr>
            <a:r>
              <a:t>Product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0040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2D8B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342900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</a:defRPr>
            </a:pPr>
            <a:r>
              <a:t>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754880"/>
            <a:ext cx="18288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2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01000" y="4983480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11F36"/>
                </a:solidFill>
              </a:defRPr>
            </a:pPr>
            <a:r>
              <a:t>Rating / Returns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Business Questions → Decision Paths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2816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The report is organized around stakeholder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4008" cy="82296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53619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47088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6080" y="1444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</a:defRPr>
            </a:pPr>
            <a:r>
              <a:t>Where is revenue coming from?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7647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57080"/>
                </a:solidFill>
              </a:defRPr>
            </a:pPr>
            <a:r>
              <a:t>Category • Product • Location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146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514600"/>
            <a:ext cx="64008" cy="82296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267919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990088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26080" y="2587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</a:defRPr>
            </a:pPr>
            <a:r>
              <a:t>Why are ratings low?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9077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57080"/>
                </a:solidFill>
              </a:defRPr>
            </a:pPr>
            <a:r>
              <a:t>Wait • Delivery • Quality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64008" cy="82296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2688" y="3822191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OPERATIONS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133087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26080" y="3730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</a:defRPr>
            </a:pPr>
            <a:r>
              <a:t>Where are delays?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50791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57080"/>
                </a:solidFill>
              </a:defRPr>
            </a:pPr>
            <a:r>
              <a:t>Delivery • Location • Zone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800600"/>
            <a:ext cx="19202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4800600"/>
            <a:ext cx="64008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4965192"/>
            <a:ext cx="1600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PRODUCT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276088"/>
            <a:ext cx="1600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4873752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11F36"/>
                </a:solidFill>
              </a:defRPr>
            </a:pPr>
            <a:r>
              <a:t>Which items need attention?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51937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657080"/>
                </a:solidFill>
              </a:defRPr>
            </a:pPr>
            <a:r>
              <a:t>Price • Sales • Rating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828800"/>
            <a:ext cx="2560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11F36"/>
                </a:solidFill>
              </a:defRPr>
            </a:pPr>
            <a:r>
              <a:t>Every visual should answer a business question.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 | Revenue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01556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Category-level revenue reveals the portfolio mix</a:t>
            </a:r>
          </a:p>
        </p:txBody>
      </p:sp>
      <p:pic>
        <p:nvPicPr>
          <p:cNvPr id="5" name="Picture 4" descr="c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68096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549640" y="146304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49640" y="1463040"/>
            <a:ext cx="64008" cy="100584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50808" y="162763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TOP CATEGORY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0808" y="193852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Phones and Tablet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9640" y="274320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49640" y="2743200"/>
            <a:ext cx="64008" cy="100584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50808" y="290779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0808" y="321868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38,535,343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2976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Protect strong categories.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Use targeted growth tactics for weaker contributors.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2 | 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74947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A starting point for promotion and planning</a:t>
            </a:r>
          </a:p>
        </p:txBody>
      </p:sp>
      <p:pic>
        <p:nvPicPr>
          <p:cNvPr id="5" name="Picture 4" descr="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5527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32520" y="164592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Identify peaks and weaker periods.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Promotion should be focused where demand needs stimulation.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More historical data is needed for strong seasonality and YoY conclusions.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3 | Geographic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23866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Location concentration can guide regional marketing and distribution</a:t>
            </a:r>
          </a:p>
        </p:txBody>
      </p:sp>
      <p:pic>
        <p:nvPicPr>
          <p:cNvPr id="5" name="Picture 4" descr="lo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5527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554480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Use Location as a slicer.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Compare revenue with order volume.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Layer Zone to identify operational pockets.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Prioritize high-value markets for retention and capacity.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4 | Delivery Type vs Waiting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40990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Delivery method shows a strong operational difference</a:t>
            </a:r>
          </a:p>
        </p:txBody>
      </p:sp>
      <p:pic>
        <p:nvPicPr>
          <p:cNvPr id="5" name="Picture 4" descr="deli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7724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41080" y="150876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41080" y="1508760"/>
            <a:ext cx="64008" cy="1005840"/>
          </a:xfrm>
          <a:prstGeom prst="rect">
            <a:avLst/>
          </a:prstGeom>
          <a:solidFill>
            <a:srgbClr val="2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42248" y="1673351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FASTEST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98424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3.5 days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41080" y="278892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641080" y="2788920"/>
            <a:ext cx="64008" cy="100584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42248" y="295351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LONGEST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42248" y="326440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15.0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4251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215CA5"/>
                </a:solidFill>
              </a:defRPr>
            </a:pPr>
            <a:r>
              <a:t>Decision cue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572000"/>
            <a:ext cx="32222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</a:defRPr>
            </a:pPr>
            <a:r>
              <a:rPr dirty="0"/>
              <a:t>Use delivery-type performance to</a:t>
            </a:r>
            <a:endParaRPr lang="en-IN" dirty="0"/>
          </a:p>
          <a:p>
            <a:pPr algn="l">
              <a:defRPr sz="1300" b="1">
                <a:solidFill>
                  <a:srgbClr val="111F36"/>
                </a:solidFill>
              </a:defRPr>
            </a:pPr>
            <a:r>
              <a:rPr dirty="0"/>
              <a:t> set realistic promises and improve logistics.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5 | Low-Rating Rate by Delivery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23838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Customer experience is not explained by price alone</a:t>
            </a:r>
          </a:p>
        </p:txBody>
      </p:sp>
      <p:pic>
        <p:nvPicPr>
          <p:cNvPr id="5" name="Picture 4" descr="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772400" cy="4846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641080" y="150876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41080" y="1508760"/>
            <a:ext cx="64008" cy="100584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42248" y="1673351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OVERALL LOW RATING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42248" y="198424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47.2%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926080"/>
            <a:ext cx="2651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Treat ratings 1–2 as low ratings.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Compare delivery with waiting time and reasons.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Use reason-level analysis to prioritize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6 | Why Are Customers Unhappy?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88920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Reason-level analysis points to actionable experience problems</a:t>
            </a:r>
          </a:p>
        </p:txBody>
      </p:sp>
      <p:pic>
        <p:nvPicPr>
          <p:cNvPr id="5" name="Picture 4" descr="reas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5527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6459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Strengthen product quality control.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Improve picking and packing accuracy.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Improve product descriptions and expectation setting.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Track recurring issues by product and supplier.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7 | Shipping Charges vs Product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78982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Average shipping fee is more useful than total shipping spend</a:t>
            </a:r>
          </a:p>
        </p:txBody>
      </p:sp>
      <p:pic>
        <p:nvPicPr>
          <p:cNvPr id="5" name="Picture 4" descr="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7724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645920"/>
            <a:ext cx="2743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Total shipping cost is influenced by order volume.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Average shipping differences across categories are small.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Investigate delivery type, location, zone and quantity for stronger cost drivers.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8 | Product Winners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404149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Top products are the starting point for assortment and promotion</a:t>
            </a:r>
          </a:p>
        </p:txBody>
      </p:sp>
      <p:pic>
        <p:nvPicPr>
          <p:cNvPr id="5" name="Picture 4" descr="toppro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795527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78240" y="164592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Track revenue and order volume together.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Validate rating and return reasons before scaling promotion.</a:t>
            </a:r>
          </a:p>
          <a:p>
            <a:pPr>
              <a:spcAft>
                <a:spcPts val="700"/>
              </a:spcAft>
              <a:defRPr sz="1300">
                <a:solidFill>
                  <a:srgbClr val="2D3543"/>
                </a:solidFill>
              </a:defRPr>
            </a:pPr>
            <a:r>
              <a:t>• High revenue does not automatically mean high profitability.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9 | Customer Loyalty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32655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Turn transaction behavior into differentiated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5544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554480"/>
            <a:ext cx="64008" cy="1143000"/>
          </a:xfrm>
          <a:prstGeom prst="rect">
            <a:avLst/>
          </a:prstGeom>
          <a:solidFill>
            <a:srgbClr val="2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7190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CHAMPIONS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29967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High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5544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554480"/>
            <a:ext cx="64008" cy="114300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75887" y="17190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LOYAL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029967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High frequency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5544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554480"/>
            <a:ext cx="64008" cy="1143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7190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029967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Emerging value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1554480"/>
            <a:ext cx="24688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59" y="1554480"/>
            <a:ext cx="64008" cy="114300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53728" y="171907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AT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53728" y="2029967"/>
            <a:ext cx="21488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Low 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Champions: premium benefits and early access.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Growth: bundles and threshold incentives.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At-risk: personalized reactivation offers.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Use revenue, order frequency and average order value as customer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10 | DAX Analytics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55578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Reusable measures turn the model into a decision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23444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CALCULATE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Context-aware measures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123444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SUM / AVERAGE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9280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Core aggregation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41732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64008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158191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DATEDIFF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189280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Waiting-time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1546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154680"/>
            <a:ext cx="64008" cy="123444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31927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SAMEPERIODLASTYEAR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63016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Time intelligence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1546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154680"/>
            <a:ext cx="64008" cy="1234440"/>
          </a:xfrm>
          <a:prstGeom prst="rect">
            <a:avLst/>
          </a:prstGeom>
          <a:solidFill>
            <a:srgbClr val="2D8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36007" y="331927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FILTER / ITERATORS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7" y="363016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Targeted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154680"/>
            <a:ext cx="32461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83879" y="3154680"/>
            <a:ext cx="64008" cy="123444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85048" y="3319272"/>
            <a:ext cx="2926079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DISTINCTCOUNT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5048" y="3630168"/>
            <a:ext cx="2926079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Unique entities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11F36"/>
                </a:solidFill>
              </a:defRPr>
            </a:pPr>
            <a:r>
              <a:t>Model → Measures → Visuals → Decisions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11 | Time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67921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Previous-year comparison requires a complete date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11F36"/>
                </a:solidFill>
              </a:defRPr>
            </a:pPr>
            <a:r>
              <a:t>Current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215CA5"/>
                </a:solidFill>
              </a:defRPr>
            </a:pPr>
            <a:r>
              <a:t>SAMEPERIODLASTYEAR()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11F36"/>
                </a:solidFill>
              </a:defRPr>
            </a:pPr>
            <a:r>
              <a:t>Same month / prior year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46120" y="1755648"/>
            <a:ext cx="1051560" cy="502920"/>
          </a:xfrm>
          <a:prstGeom prst="rightArrow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ight Arrow 8"/>
          <p:cNvSpPr/>
          <p:nvPr/>
        </p:nvSpPr>
        <p:spPr>
          <a:xfrm>
            <a:off x="7772400" y="1755648"/>
            <a:ext cx="1051560" cy="502920"/>
          </a:xfrm>
          <a:prstGeom prst="rightArrow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241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Required output: Year | Month | Total Sales | Previous_Years_Sales.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The available file is described as May–June 2020; 2019 comparison needs historical data.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Blank prior-year values can be a data-availability result, not a DAX error.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rPr dirty="0"/>
              <a:t>12 | Interactive Power BI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029723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Three stakeholder-focused tabs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109728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Sales • Revenue • Satisfaction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80560" y="1417320"/>
            <a:ext cx="64008" cy="109728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81728" y="158191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17720" y="2697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Category • Customer •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832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417320"/>
            <a:ext cx="64008" cy="10972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1581912"/>
            <a:ext cx="3063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INDIVIDUAL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697480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Purchase • Rating • Revenue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38328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Main: product category + date slicers.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Product: gender + delivery type + category + age group.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Individual Product: product-level profile and performance.</a:t>
            </a:r>
          </a:p>
          <a:p>
            <a:pPr>
              <a:spcAft>
                <a:spcPts val="700"/>
              </a:spcAft>
              <a:defRPr sz="1400">
                <a:solidFill>
                  <a:srgbClr val="2D3543"/>
                </a:solidFill>
              </a:defRPr>
            </a:pPr>
            <a:r>
              <a:t>• Use cross-filtering, tooltips and bookmarks for guided exploration.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7B948B-70C3-8AFC-3CEF-81623CA5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BEB7CD-1D49-0D8C-A3A1-075DE5AD98DB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598F80-1119-8CA0-7792-46DCEB204DC9}"/>
              </a:ext>
            </a:extLst>
          </p:cNvPr>
          <p:cNvSpPr txBox="1"/>
          <p:nvPr/>
        </p:nvSpPr>
        <p:spPr>
          <a:xfrm>
            <a:off x="594360" y="320040"/>
            <a:ext cx="109728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500" b="1">
                <a:solidFill>
                  <a:srgbClr val="111F36"/>
                </a:solidFill>
              </a:defRPr>
            </a:pPr>
            <a:r>
              <a:rPr dirty="0"/>
              <a:t>12</a:t>
            </a:r>
            <a:r>
              <a:rPr lang="en-IN" dirty="0"/>
              <a:t>.1</a:t>
            </a:r>
            <a:r>
              <a:rPr dirty="0"/>
              <a:t> | </a:t>
            </a:r>
            <a:r>
              <a:rPr lang="en-IN" sz="2500" b="1" dirty="0">
                <a:solidFill>
                  <a:srgbClr val="111F36"/>
                </a:solidFill>
              </a:rPr>
              <a:t>Main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3F991F-7682-F3BD-BEBD-E208E0F398B8}"/>
              </a:ext>
            </a:extLst>
          </p:cNvPr>
          <p:cNvSpPr txBox="1"/>
          <p:nvPr/>
        </p:nvSpPr>
        <p:spPr>
          <a:xfrm>
            <a:off x="621792" y="841248"/>
            <a:ext cx="4580100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657080"/>
                </a:solidFill>
              </a:defRPr>
            </a:pPr>
            <a:r>
              <a:rPr lang="en-IN" sz="1050" dirty="0">
                <a:solidFill>
                  <a:srgbClr val="657080"/>
                </a:solidFill>
              </a:rPr>
              <a:t>High-level KPI tracking, Sales, regional revenue mix, and monthly order trajectory</a:t>
            </a:r>
            <a:endParaRPr sz="11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28ABDC-6089-B319-068F-9823B6911427}"/>
              </a:ext>
            </a:extLst>
          </p:cNvPr>
          <p:cNvSpPr txBox="1"/>
          <p:nvPr/>
        </p:nvSpPr>
        <p:spPr>
          <a:xfrm>
            <a:off x="468172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0DA346-8B1A-46BE-95FE-A69F64B1F411}"/>
              </a:ext>
            </a:extLst>
          </p:cNvPr>
          <p:cNvSpPr txBox="1"/>
          <p:nvPr/>
        </p:nvSpPr>
        <p:spPr>
          <a:xfrm>
            <a:off x="847648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5037CC-453F-2568-BAB3-1A7642070055}"/>
              </a:ext>
            </a:extLst>
          </p:cNvPr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16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4A5875B-6D63-4E70-D17F-BF00B7C9C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1" y="1139318"/>
            <a:ext cx="10653742" cy="503656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MAIN DASHBOARD">
            <a:extLst>
              <a:ext uri="{FF2B5EF4-FFF2-40B4-BE49-F238E27FC236}">
                <a16:creationId xmlns:a16="http://schemas.microsoft.com/office/drawing/2014/main" id="{AFD2B1B2-23D0-7601-D623-435088833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88250"/>
            <a:ext cx="57912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63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C065C5-17A4-D77C-7952-C96CAD145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7FBFAC-0133-E520-A400-6DC3C469E0B4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C308B-60BC-4D5E-546B-8EC274B7E788}"/>
              </a:ext>
            </a:extLst>
          </p:cNvPr>
          <p:cNvSpPr txBox="1"/>
          <p:nvPr/>
        </p:nvSpPr>
        <p:spPr>
          <a:xfrm>
            <a:off x="594360" y="320040"/>
            <a:ext cx="1051609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rPr dirty="0"/>
              <a:t>12</a:t>
            </a:r>
            <a:r>
              <a:rPr lang="en-IN" dirty="0"/>
              <a:t>.2</a:t>
            </a:r>
            <a:r>
              <a:rPr dirty="0"/>
              <a:t> | </a:t>
            </a:r>
            <a:r>
              <a:rPr lang="en-IN" dirty="0"/>
              <a:t>Product Dashboard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D0D224-E915-689E-8994-B5FAA95EDFE3}"/>
              </a:ext>
            </a:extLst>
          </p:cNvPr>
          <p:cNvSpPr txBox="1"/>
          <p:nvPr/>
        </p:nvSpPr>
        <p:spPr>
          <a:xfrm>
            <a:off x="621792" y="841248"/>
            <a:ext cx="3995004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lang="en-IN" sz="1100" b="1" dirty="0"/>
              <a:t>Product Performance | Sales, Category, Product ranking &amp; Rating</a:t>
            </a:r>
            <a:endParaRPr sz="11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9BEE5-F6EB-B9E7-DF48-48732E767EEE}"/>
              </a:ext>
            </a:extLst>
          </p:cNvPr>
          <p:cNvSpPr txBox="1"/>
          <p:nvPr/>
        </p:nvSpPr>
        <p:spPr>
          <a:xfrm>
            <a:off x="88696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B355F3-C172-D376-C807-E95A264993FC}"/>
              </a:ext>
            </a:extLst>
          </p:cNvPr>
          <p:cNvSpPr txBox="1"/>
          <p:nvPr/>
        </p:nvSpPr>
        <p:spPr>
          <a:xfrm>
            <a:off x="468172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F5D6B7F-066E-D4AF-CEB7-BD14B54FB6BD}"/>
              </a:ext>
            </a:extLst>
          </p:cNvPr>
          <p:cNvSpPr txBox="1"/>
          <p:nvPr/>
        </p:nvSpPr>
        <p:spPr>
          <a:xfrm>
            <a:off x="847648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52AA04B-3239-4A83-AA3E-81E626013A2E}"/>
              </a:ext>
            </a:extLst>
          </p:cNvPr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16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96061D5-820F-8673-94C6-2EC2645E1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29033"/>
            <a:ext cx="10710671" cy="50537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Picture 24" descr="PRODUCT DASHBOARD">
            <a:extLst>
              <a:ext uri="{FF2B5EF4-FFF2-40B4-BE49-F238E27FC236}">
                <a16:creationId xmlns:a16="http://schemas.microsoft.com/office/drawing/2014/main" id="{D8D5C6B3-C532-7CF3-AE00-0DB82A8A5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3088250"/>
            <a:ext cx="57912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219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D1CE4-53F6-1225-5012-9815A33A1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FD9AD7-5327-02B8-DB09-DF3007329BA2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E3622-6E33-0A7F-1B37-487983880D71}"/>
              </a:ext>
            </a:extLst>
          </p:cNvPr>
          <p:cNvSpPr txBox="1"/>
          <p:nvPr/>
        </p:nvSpPr>
        <p:spPr>
          <a:xfrm>
            <a:off x="594360" y="320040"/>
            <a:ext cx="5000280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rPr dirty="0"/>
              <a:t>12</a:t>
            </a:r>
            <a:r>
              <a:rPr lang="en-IN" dirty="0"/>
              <a:t>.3</a:t>
            </a:r>
            <a:r>
              <a:rPr dirty="0"/>
              <a:t> | </a:t>
            </a:r>
            <a:r>
              <a:rPr lang="en-IN" dirty="0"/>
              <a:t>Individual Product Dashboard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76DF59-E372-329F-82B2-0B7FAE0F7C98}"/>
              </a:ext>
            </a:extLst>
          </p:cNvPr>
          <p:cNvSpPr txBox="1"/>
          <p:nvPr/>
        </p:nvSpPr>
        <p:spPr>
          <a:xfrm>
            <a:off x="621792" y="841248"/>
            <a:ext cx="4179349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lang="en-IN" sz="1100" b="1" dirty="0"/>
              <a:t>Drill-down view | Selected product profile and Customer experience</a:t>
            </a:r>
            <a:endParaRPr sz="11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C218A-9AF1-5228-B5F5-504B8B5CA10F}"/>
              </a:ext>
            </a:extLst>
          </p:cNvPr>
          <p:cNvSpPr txBox="1"/>
          <p:nvPr/>
        </p:nvSpPr>
        <p:spPr>
          <a:xfrm>
            <a:off x="88696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80C9C-534E-5BDD-870B-C4514D7FEF8D}"/>
              </a:ext>
            </a:extLst>
          </p:cNvPr>
          <p:cNvSpPr txBox="1"/>
          <p:nvPr/>
        </p:nvSpPr>
        <p:spPr>
          <a:xfrm>
            <a:off x="468172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06BF9D-92E1-3DFF-E06F-0CAC7DF6A8D4}"/>
              </a:ext>
            </a:extLst>
          </p:cNvPr>
          <p:cNvSpPr txBox="1"/>
          <p:nvPr/>
        </p:nvSpPr>
        <p:spPr>
          <a:xfrm>
            <a:off x="8476488" y="1892808"/>
            <a:ext cx="306324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9D07A1-04CF-9305-931A-7950A9CFE30F}"/>
              </a:ext>
            </a:extLst>
          </p:cNvPr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16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ADBC31A-DA67-374E-9F48-9700101A2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1" y="1238865"/>
            <a:ext cx="10607482" cy="508327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442265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13 | Storytelling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2978701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Guide the audience from performance to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64008" cy="91440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0428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WHAT?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2331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Revenue • Customers • Products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82880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20439" y="1828800"/>
            <a:ext cx="64008" cy="91440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21607" y="19933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30428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WHERE?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2971800"/>
            <a:ext cx="2331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Location • Category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182880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59" y="1828800"/>
            <a:ext cx="64008" cy="91440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0527" y="19933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30428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WHY?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79" y="2971800"/>
            <a:ext cx="2331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Delivery • Wait • Rating • Reasons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82880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1828800"/>
            <a:ext cx="64008" cy="9144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199339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30428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NEXT?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971800"/>
            <a:ext cx="2331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57080"/>
                </a:solidFill>
              </a:defRPr>
            </a:pPr>
            <a:r>
              <a:t>Promotion • Quality • Logistics • Loyalty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104241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11F36"/>
                </a:solidFill>
              </a:defRPr>
            </a:pPr>
            <a:r>
              <a:t>One page = one story. Keep the most important information prominent.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14 |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318388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Translate analytical signals into operational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2423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64008" cy="822960"/>
          </a:xfrm>
          <a:prstGeom prst="rect">
            <a:avLst/>
          </a:prstGeom>
          <a:solidFill>
            <a:srgbClr val="C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4904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CUSTOMER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435607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</a:defRPr>
            </a:pPr>
            <a:r>
              <a:t>Reduce defects, wrong items and missing parts; improve descriptions.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2423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1520" y="2468880"/>
            <a:ext cx="64008" cy="82296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6334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9443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57860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</a:defRPr>
            </a:pPr>
            <a:r>
              <a:t>Improve international logistics and set realistic promises.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11880"/>
            <a:ext cx="2423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11880"/>
            <a:ext cx="64008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7764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0873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372160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</a:defRPr>
            </a:pPr>
            <a:r>
              <a:t>Review high-price/low-sales items before targeted incentives.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24231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64008" cy="82296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91947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GROWTH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230368"/>
            <a:ext cx="21031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429000" y="4864608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111F36"/>
                </a:solidFill>
              </a:defRPr>
            </a:pPr>
            <a:r>
              <a:t>Use location, trends and customer value to focus promotions.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500" b="1">
                <a:solidFill>
                  <a:srgbClr val="111F36"/>
                </a:solidFill>
              </a:defRPr>
            </a:pPr>
            <a:r>
              <a:t>15 | Project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5103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50" b="0">
                <a:solidFill>
                  <a:srgbClr val="657080"/>
                </a:solidFill>
              </a:defRPr>
            </a:pPr>
            <a:r>
              <a:rPr sz="1100" b="1" dirty="0"/>
              <a:t>What the analysis says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315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Revenue, products, customers, delivery and satisfaction can be brought into one decision framework.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Delivery type is a strong operational lever for waiting time.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Low ratings require a multi-factor response; quality and fulfillment reasons are highly actionable.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Interactive pages should move stakeholders from performance → diagnosis → action.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Historical data expansion is the next step for stronger year-over-year and predictive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95360" y="155448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95360" y="1554480"/>
            <a:ext cx="64008" cy="100584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96528" y="171907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FOCUS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96528" y="2029967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Growth + CX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83464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95360" y="2834640"/>
            <a:ext cx="64008" cy="100584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96528" y="299923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OPERATE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331012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Delivery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4114800"/>
            <a:ext cx="27432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95360" y="4114800"/>
            <a:ext cx="64008" cy="1005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96528" y="4279392"/>
            <a:ext cx="2423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IMPROVE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528" y="4590288"/>
            <a:ext cx="2423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111F3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215CA5"/>
                </a:solidFill>
              </a:defRPr>
            </a:pPr>
            <a:r>
              <a:t>From dashboard metrics to business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7132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Build the report around stakeholder decisions, not just available columns.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Use clean KPIs and the right chart for each question.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Prioritize delivery, fulfillment quality and customer experience interventions.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Use targeted promotions and loyalty strategies instead of blanket discounts.</a:t>
            </a:r>
          </a:p>
          <a:p>
            <a:pPr>
              <a:spcAft>
                <a:spcPts val="700"/>
              </a:spcAft>
              <a:defRPr sz="1500">
                <a:solidFill>
                  <a:srgbClr val="2D3543"/>
                </a:solidFill>
              </a:defRPr>
            </a:pPr>
            <a:r>
              <a:t>• Keep the Power BI report interactive, consistent and easy to navigate.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03920" y="214884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503920" y="2148840"/>
            <a:ext cx="64008" cy="1051560"/>
          </a:xfrm>
          <a:prstGeom prst="rect">
            <a:avLst/>
          </a:prstGeom>
          <a:solidFill>
            <a:srgbClr val="215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05088" y="231343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05088" y="262432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E-Commerce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503920" y="3474720"/>
            <a:ext cx="64008" cy="1051560"/>
          </a:xfrm>
          <a:prstGeom prst="rect">
            <a:avLst/>
          </a:prstGeom>
          <a:solidFill>
            <a:srgbClr val="137E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705088" y="363931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DECISION FOCUS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05088" y="395020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Growth + 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4800600"/>
            <a:ext cx="2880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1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503920" y="4800600"/>
            <a:ext cx="64008" cy="10515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05088" y="4965192"/>
            <a:ext cx="256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 b="1">
                <a:solidFill>
                  <a:srgbClr val="657080"/>
                </a:solidFill>
              </a:defRPr>
            </a:pPr>
            <a:r>
              <a:t>NEXT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5276088"/>
            <a:ext cx="25603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111F36"/>
                </a:solidFill>
              </a:defRPr>
            </a:pPr>
            <a:r>
              <a:t>Act +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57080"/>
                </a:solidFill>
              </a:defRPr>
            </a:pPr>
            <a:r>
              <a:t>E-Commerce Analytics | Power BI Project   •  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1334</Words>
  <Application>Microsoft Office PowerPoint</Application>
  <PresentationFormat>Widescreen</PresentationFormat>
  <Paragraphs>234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Gaurav Gupta</cp:lastModifiedBy>
  <cp:revision>2</cp:revision>
  <dcterms:created xsi:type="dcterms:W3CDTF">2013-01-27T09:14:16Z</dcterms:created>
  <dcterms:modified xsi:type="dcterms:W3CDTF">2026-10-04T18:30:49Z</dcterms:modified>
  <cp:category/>
</cp:coreProperties>
</file>